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648" r:id="rId4"/>
  </p:sldMasterIdLst>
  <p:notesMasterIdLst>
    <p:notesMasterId r:id="rId31"/>
  </p:notesMasterIdLst>
  <p:sldIdLst>
    <p:sldId id="263" r:id="rId5"/>
    <p:sldId id="259" r:id="rId6"/>
    <p:sldId id="265" r:id="rId7"/>
    <p:sldId id="266" r:id="rId8"/>
    <p:sldId id="267" r:id="rId9"/>
    <p:sldId id="268" r:id="rId10"/>
    <p:sldId id="270" r:id="rId11"/>
    <p:sldId id="271" r:id="rId12"/>
    <p:sldId id="272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4" r:id="rId25"/>
    <p:sldId id="269" r:id="rId26"/>
    <p:sldId id="273" r:id="rId27"/>
    <p:sldId id="286" r:id="rId28"/>
    <p:sldId id="274" r:id="rId29"/>
    <p:sldId id="287" r:id="rId30"/>
  </p:sldIdLst>
  <p:sldSz cx="10152063" cy="7596188"/>
  <p:notesSz cx="7596188" cy="101520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3300"/>
    <a:srgbClr val="FF66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DD8D5F-391E-48B0-A51B-2FA627520D1C}" v="2" dt="2023-02-23T20:22:28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660"/>
  </p:normalViewPr>
  <p:slideViewPr>
    <p:cSldViewPr>
      <p:cViewPr varScale="1">
        <p:scale>
          <a:sx n="57" d="100"/>
          <a:sy n="57" d="100"/>
        </p:scale>
        <p:origin x="1304" y="44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302125" y="0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61B29-47AB-4339-B861-86E04722C856}" type="datetimeFigureOut">
              <a:rPr lang="en-SG" smtClean="0"/>
              <a:t>28/6/2025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8125" y="1268413"/>
            <a:ext cx="4581525" cy="3427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60413" y="4886325"/>
            <a:ext cx="6076950" cy="39973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642475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302125" y="9642475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7D5AD-A96F-4FDD-8E24-85F5937109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21894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en-SG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en-SG"/>
          </a:p>
        </p:txBody>
      </p:sp>
      <p:pic>
        <p:nvPicPr>
          <p:cNvPr id="5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787" y="5562600"/>
            <a:ext cx="47212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74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C53B01-2714-4BC1-9FD1-2E0C34F23AFB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NUS School of Computing.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2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150" y="1893888"/>
            <a:ext cx="8756650" cy="31591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150" y="5083175"/>
            <a:ext cx="8756650" cy="166211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D9260-B88D-44B4-9C94-7A585DA4FFFF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NUS School of Computing.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16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2193925"/>
            <a:ext cx="4237037" cy="4740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5" y="2193925"/>
            <a:ext cx="4238625" cy="4740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15DFD-1E49-4630-8341-53E578BDB75B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NUS School of Computing.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232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04813"/>
            <a:ext cx="8756650" cy="14684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862138"/>
            <a:ext cx="4295775" cy="9128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2774950"/>
            <a:ext cx="4295775" cy="4081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8738" y="1862138"/>
            <a:ext cx="4316412" cy="9128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8738" y="2774950"/>
            <a:ext cx="4316412" cy="4081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CF3495-7DBD-47B8-9619-518CF6355135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NUS School of Computing.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298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E349B-2F41-4919-AF8B-1675E51541F7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NUS School of Computing.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618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EE697-47B0-4F0E-A40D-68204616B149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ctr">
              <a:defRPr lang="en-US" sz="1000" smtClean="0">
                <a:solidFill>
                  <a:srgbClr val="003399"/>
                </a:solidFill>
              </a:defRPr>
            </a:lvl1pPr>
          </a:lstStyle>
          <a:p>
            <a:r>
              <a:rPr lang="en-US"/>
              <a:t>© NUS School of Computing.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0205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506413"/>
            <a:ext cx="3275013" cy="17732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6413" y="1093788"/>
            <a:ext cx="5138737" cy="53975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8500" y="2279650"/>
            <a:ext cx="3275013" cy="4221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AEA4AA-23C0-4BF5-AB9E-15CC048528E0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NUS School of Computing.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902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506413"/>
            <a:ext cx="3275013" cy="17732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16413" y="1093788"/>
            <a:ext cx="5138737" cy="5397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8500" y="2279650"/>
            <a:ext cx="3275013" cy="4221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F65F2-F59E-4411-A5CE-B44E8E3C3495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NUS School of Computing.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32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2D6DF-5B10-45B2-9C9A-E3FA3568B117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NUS School of Computing.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5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914400"/>
            <a:ext cx="2155825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914400"/>
            <a:ext cx="6319837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EF037-A107-4A87-BB12-3EF97578CE62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NUS School of Computing.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26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7" y="914400"/>
            <a:ext cx="9199563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2193925"/>
            <a:ext cx="9199562" cy="474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defTabSz="1014413">
              <a:defRPr sz="1000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defTabSz="1014413">
              <a:defRPr sz="1000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29C55D03-E3C2-4308-A5AD-3E09A9016D34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en-SG"/>
          </a:p>
        </p:txBody>
      </p:sp>
      <p:sp>
        <p:nvSpPr>
          <p:cNvPr id="1031" name="Rectangle 8"/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en-SG"/>
          </a:p>
        </p:txBody>
      </p:sp>
      <p:sp>
        <p:nvSpPr>
          <p:cNvPr id="1032" name="Text Box 11"/>
          <p:cNvSpPr txBox="1">
            <a:spLocks noChangeArrowheads="1"/>
          </p:cNvSpPr>
          <p:nvPr userDrawn="1"/>
        </p:nvSpPr>
        <p:spPr bwMode="auto">
          <a:xfrm>
            <a:off x="611188" y="358775"/>
            <a:ext cx="72390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500" b="1" dirty="0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NUS Intermediate AI Competency</a:t>
            </a:r>
            <a:r>
              <a:rPr lang="en-US" sz="1500" b="1" baseline="0" dirty="0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Course</a:t>
            </a:r>
            <a:endParaRPr lang="en-GB" sz="1500" b="1" dirty="0">
              <a:solidFill>
                <a:srgbClr val="00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7016750"/>
            <a:ext cx="3214688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ctr">
              <a:defRPr lang="en-US" sz="1000" smtClean="0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1014413"/>
            <a:r>
              <a:rPr lang="en-US"/>
              <a:t>© NUS School of Computing. All Rights Reserved.</a:t>
            </a:r>
          </a:p>
        </p:txBody>
      </p:sp>
      <p:pic>
        <p:nvPicPr>
          <p:cNvPr id="1034" name="Picture 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038" y="423863"/>
            <a:ext cx="1709737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11"/>
          <p:cNvSpPr txBox="1">
            <a:spLocks noChangeArrowheads="1"/>
          </p:cNvSpPr>
          <p:nvPr userDrawn="1"/>
        </p:nvSpPr>
        <p:spPr bwMode="auto">
          <a:xfrm>
            <a:off x="614298" y="596899"/>
            <a:ext cx="72390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500" dirty="0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</a:t>
            </a:r>
            <a:r>
              <a:rPr lang="en-US" sz="1500" baseline="0" dirty="0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Plan</a:t>
            </a:r>
            <a:endParaRPr lang="en-GB" sz="1500" dirty="0">
              <a:solidFill>
                <a:srgbClr val="00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ftr="0" dt="0"/>
  <p:txStyles>
    <p:titleStyle>
      <a:lvl1pPr algn="l" defTabSz="1014413" rtl="0" eaLnBrk="0" fontAlgn="base" hangingPunct="0">
        <a:spcBef>
          <a:spcPct val="0"/>
        </a:spcBef>
        <a:spcAft>
          <a:spcPct val="0"/>
        </a:spcAft>
        <a:defRPr sz="3500" kern="1200">
          <a:solidFill>
            <a:srgbClr val="FF66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9pPr>
    </p:titleStyle>
    <p:bodyStyle>
      <a:lvl1pPr marL="514350" indent="-514350" algn="l" defTabSz="10144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b="0" kern="1200">
          <a:solidFill>
            <a:srgbClr val="003399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831850" indent="-457200" algn="l" defTabSz="10144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003399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212850" indent="-457200" algn="l" defTabSz="10144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b="0" kern="1200">
          <a:solidFill>
            <a:srgbClr val="FF66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457200" algn="l" defTabSz="10144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i="1" kern="1200">
          <a:solidFill>
            <a:srgbClr val="003399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1981200" indent="-457200" algn="l" defTabSz="10144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003399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techassessment.blob.core.windows.net/aiap20-assessment-data/bmarket.db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2150" y="1664494"/>
            <a:ext cx="8756650" cy="2168525"/>
          </a:xfrm>
        </p:spPr>
        <p:txBody>
          <a:bodyPr anchor="t" anchorCtr="0"/>
          <a:lstStyle/>
          <a:p>
            <a:r>
              <a:rPr lang="en-US" dirty="0"/>
              <a:t>Predicting Client Subscriptions to Term Deposits</a:t>
            </a:r>
            <a:endParaRPr lang="en-SG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692150" y="4912519"/>
            <a:ext cx="8756650" cy="543719"/>
          </a:xfrm>
        </p:spPr>
        <p:txBody>
          <a:bodyPr/>
          <a:lstStyle/>
          <a:p>
            <a:r>
              <a:rPr lang="it-IT" b="1" dirty="0"/>
              <a:t>AI Singapore’s AI Apprenticeship Programme (AIAP) - Batch 20</a:t>
            </a:r>
            <a:endParaRPr lang="en-S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C53B01-2714-4BC1-9FD1-2E0C34F23AFB}" type="slidenum">
              <a:rPr lang="en-GB" smtClean="0"/>
              <a:pPr>
                <a:defRPr/>
              </a:pPr>
              <a:t>0</a:t>
            </a:fld>
            <a:endParaRPr lang="en-GB" sz="1600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660406"/>
              </p:ext>
            </p:extLst>
          </p:nvPr>
        </p:nvGraphicFramePr>
        <p:xfrm>
          <a:off x="693259" y="5550694"/>
          <a:ext cx="8755540" cy="137160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4377770">
                  <a:extLst>
                    <a:ext uri="{9D8B030D-6E8A-4147-A177-3AD203B41FA5}">
                      <a16:colId xmlns:a16="http://schemas.microsoft.com/office/drawing/2014/main" val="545706314"/>
                    </a:ext>
                  </a:extLst>
                </a:gridCol>
                <a:gridCol w="4377770">
                  <a:extLst>
                    <a:ext uri="{9D8B030D-6E8A-4147-A177-3AD203B41FA5}">
                      <a16:colId xmlns:a16="http://schemas.microsoft.com/office/drawing/2014/main" val="1061665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Muhammad Faizal Bin Ehsan</a:t>
                      </a:r>
                      <a:endParaRPr lang="en-SG"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8926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113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766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588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bank needs to predict which clients are likely to subscribe to a term deposit.</a:t>
            </a:r>
          </a:p>
          <a:p>
            <a:r>
              <a:rPr lang="en-US" dirty="0"/>
              <a:t>While client and campaign data exist, they aren’t fully utilized to guide marketing actions.</a:t>
            </a:r>
          </a:p>
          <a:p>
            <a:r>
              <a:rPr lang="en-US" dirty="0"/>
              <a:t>Smarter predictions can boost engagement, reduce wasted effort, and improve resource allocation.</a:t>
            </a:r>
            <a:endParaRPr lang="en-S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</a:t>
            </a:fld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93" t="6458" r="25296" b="70875"/>
          <a:stretch/>
        </p:blipFill>
        <p:spPr bwMode="auto">
          <a:xfrm>
            <a:off x="8782383" y="1029644"/>
            <a:ext cx="1036312" cy="103633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142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Objectives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Accurately identify clients most likely to subscribe to increase campaign success.</a:t>
            </a:r>
          </a:p>
          <a:p>
            <a:r>
              <a:rPr lang="en-US" dirty="0"/>
              <a:t>Focus efforts and budget on high-potential leads to reduce waste and maximize ROI.</a:t>
            </a:r>
          </a:p>
          <a:p>
            <a:r>
              <a:rPr lang="en-US" dirty="0"/>
              <a:t>Use data-driven insights to personalize outreach and improve client relationships.</a:t>
            </a:r>
            <a:endParaRPr lang="en-S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2</a:t>
            </a:fld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93" t="6458" r="25296" b="70875"/>
          <a:stretch/>
        </p:blipFill>
        <p:spPr bwMode="auto">
          <a:xfrm>
            <a:off x="8782383" y="1029644"/>
            <a:ext cx="1036312" cy="103633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839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Success Criteria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measurable increase in term deposit sign-ups from targeted marketing efforts.</a:t>
            </a:r>
          </a:p>
          <a:p>
            <a:r>
              <a:rPr lang="en-US" dirty="0"/>
              <a:t>Reduced cost per acquisition through better targeting and smarter resource use.</a:t>
            </a:r>
          </a:p>
          <a:p>
            <a:r>
              <a:rPr lang="en-US" dirty="0"/>
              <a:t>Clear understanding of key client attributes that drive successful subscriptions.</a:t>
            </a:r>
            <a:endParaRPr lang="en-S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3</a:t>
            </a:fld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93" t="6458" r="25296" b="70875"/>
          <a:stretch/>
        </p:blipFill>
        <p:spPr bwMode="auto">
          <a:xfrm>
            <a:off x="8782383" y="1029644"/>
            <a:ext cx="1036312" cy="103633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66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Statement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AI system to predict client subscription likelihood</a:t>
            </a:r>
          </a:p>
          <a:p>
            <a:r>
              <a:rPr lang="en-US" dirty="0"/>
              <a:t>Create an ML model to classify clients by their likelihood of subscribing</a:t>
            </a:r>
          </a:p>
          <a:p>
            <a:r>
              <a:rPr lang="en-US" dirty="0"/>
              <a:t>Integrate the ML model into the existing application to streamline targeting and campaign optimization</a:t>
            </a:r>
            <a:endParaRPr lang="en-S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4</a:t>
            </a:fld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93" t="6458" r="25296" b="70875"/>
          <a:stretch/>
        </p:blipFill>
        <p:spPr bwMode="auto">
          <a:xfrm>
            <a:off x="8782383" y="1029644"/>
            <a:ext cx="1036312" cy="103633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001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data sources:</a:t>
            </a:r>
          </a:p>
          <a:p>
            <a:pPr lvl="1"/>
            <a:r>
              <a:rPr lang="en-US" dirty="0"/>
              <a:t>Client demographics (age, occupation, marital status)</a:t>
            </a:r>
          </a:p>
          <a:p>
            <a:pPr lvl="1"/>
            <a:r>
              <a:rPr lang="en-US" dirty="0"/>
              <a:t>Contact methods and campaign interactions</a:t>
            </a:r>
          </a:p>
          <a:p>
            <a:pPr lvl="1"/>
            <a:r>
              <a:rPr lang="en-US" dirty="0"/>
              <a:t>Provided by IT and Marketing teams</a:t>
            </a:r>
          </a:p>
          <a:p>
            <a:pPr lvl="1"/>
            <a:r>
              <a:rPr lang="en-US" dirty="0"/>
              <a:t>Source of Dataset: </a:t>
            </a:r>
            <a:r>
              <a:rPr lang="en-US" dirty="0">
                <a:hlinkClick r:id="rId2"/>
              </a:rPr>
              <a:t>https://techassessment.blob.core.windows.net/aiap20-assessment-data/bmarket.db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External data sources:</a:t>
            </a:r>
          </a:p>
          <a:p>
            <a:pPr lvl="1"/>
            <a:r>
              <a:rPr lang="en-US" dirty="0"/>
              <a:t>None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C53B01-2714-4BC1-9FD1-2E0C34F23AFB}" type="slidenum">
              <a:rPr lang="en-GB" smtClean="0"/>
              <a:pPr>
                <a:defRPr/>
              </a:pPr>
              <a:t>5</a:t>
            </a:fld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6" name="Picture 4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3" t="22973" r="6621" b="54152"/>
          <a:stretch/>
        </p:blipFill>
        <p:spPr bwMode="auto">
          <a:xfrm>
            <a:off x="8775466" y="1016944"/>
            <a:ext cx="1035284" cy="104584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588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Variables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C53B01-2714-4BC1-9FD1-2E0C34F23AFB}" type="slidenum">
              <a:rPr lang="en-GB" smtClean="0"/>
              <a:pPr>
                <a:defRPr/>
              </a:pPr>
              <a:t>6</a:t>
            </a:fld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6" name="Picture 4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3" t="22973" r="6621" b="54152"/>
          <a:stretch/>
        </p:blipFill>
        <p:spPr bwMode="auto">
          <a:xfrm>
            <a:off x="8775466" y="1016944"/>
            <a:ext cx="1035284" cy="104584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1CDE5C-990F-4FDD-51BD-949CAE77E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52273"/>
              </p:ext>
            </p:extLst>
          </p:nvPr>
        </p:nvGraphicFramePr>
        <p:xfrm>
          <a:off x="296067" y="2113692"/>
          <a:ext cx="9829801" cy="4808602"/>
        </p:xfrm>
        <a:graphic>
          <a:graphicData uri="http://schemas.openxmlformats.org/drawingml/2006/table">
            <a:tbl>
              <a:tblPr/>
              <a:tblGrid>
                <a:gridCol w="1524002">
                  <a:extLst>
                    <a:ext uri="{9D8B030D-6E8A-4147-A177-3AD203B41FA5}">
                      <a16:colId xmlns:a16="http://schemas.microsoft.com/office/drawing/2014/main" val="1697744082"/>
                    </a:ext>
                  </a:extLst>
                </a:gridCol>
                <a:gridCol w="1731962">
                  <a:extLst>
                    <a:ext uri="{9D8B030D-6E8A-4147-A177-3AD203B41FA5}">
                      <a16:colId xmlns:a16="http://schemas.microsoft.com/office/drawing/2014/main" val="252235190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904686414"/>
                    </a:ext>
                  </a:extLst>
                </a:gridCol>
                <a:gridCol w="3221037">
                  <a:extLst>
                    <a:ext uri="{9D8B030D-6E8A-4147-A177-3AD203B41FA5}">
                      <a16:colId xmlns:a16="http://schemas.microsoft.com/office/drawing/2014/main" val="1799528318"/>
                    </a:ext>
                  </a:extLst>
                </a:gridCol>
              </a:tblGrid>
              <a:tr h="295992">
                <a:tc>
                  <a:txBody>
                    <a:bodyPr/>
                    <a:lstStyle/>
                    <a:p>
                      <a:r>
                        <a:rPr lang="en-SG" sz="1400" b="1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  <a:endParaRPr lang="en-SG" sz="1400" dirty="0">
                        <a:solidFill>
                          <a:srgbClr val="00339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b="1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en-SG" sz="1400" dirty="0">
                        <a:solidFill>
                          <a:srgbClr val="00339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b="1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SG" sz="1400" dirty="0">
                        <a:solidFill>
                          <a:srgbClr val="00339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b="1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Sample Values / Examples</a:t>
                      </a:r>
                      <a:endParaRPr lang="en-SG" sz="1400" dirty="0">
                        <a:solidFill>
                          <a:srgbClr val="00339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297858"/>
                  </a:ext>
                </a:extLst>
              </a:tr>
              <a:tr h="295992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Client ID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Identifier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Unique identifier for the client.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32885, 3170, 32207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175245"/>
                  </a:ext>
                </a:extLst>
              </a:tr>
              <a:tr h="422845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Numerical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age of the client.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'57 years', '33 years', '150 years'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523337"/>
                  </a:ext>
                </a:extLst>
              </a:tr>
              <a:tr h="295992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Occupation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Categorical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of job held by the client.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'technician', 'admin.', 'retired', 'unknown'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81874"/>
                  </a:ext>
                </a:extLst>
              </a:tr>
              <a:tr h="295992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Marital Status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Categorical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Marital status of the client.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'married', 'single', 'divorced', 'unknown'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282383"/>
                  </a:ext>
                </a:extLst>
              </a:tr>
              <a:tr h="422845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Education Level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Categorical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Highest education level attained by the client.</a:t>
                      </a:r>
                      <a:endParaRPr lang="en-SG" sz="1400" dirty="0">
                        <a:solidFill>
                          <a:srgbClr val="00339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</a:t>
                      </a:r>
                      <a:r>
                        <a:rPr lang="en-US" sz="1400" dirty="0" err="1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high.school</a:t>
                      </a:r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', 'basic.9y', 'illiterate', 'unknown'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848038"/>
                  </a:ext>
                </a:extLst>
              </a:tr>
              <a:tr h="295992"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 Default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Categorical (nominal)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Indicates if the client has a credit in default.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'yes', 'no', 'unknown'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06609"/>
                  </a:ext>
                </a:extLst>
              </a:tr>
              <a:tr h="295992"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Housing Loan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Categorical (nominal)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Indicates if the client has a housing loan.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'yes', 'no', None, 'unknown'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727544"/>
                  </a:ext>
                </a:extLst>
              </a:tr>
              <a:tr h="295992"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Personal Loan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Categorical (nominal)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Indicates if the client has a personal loan.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'yes', 'no', None, 'unknown'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30010"/>
                  </a:ext>
                </a:extLst>
              </a:tr>
              <a:tr h="422845"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Contact Method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Categorical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Method of contact during the campaign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'cellular', 'Cell', 'telephone', 'Telephone'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663881"/>
                  </a:ext>
                </a:extLst>
              </a:tr>
              <a:tr h="422845"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Campaign Calls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Numerical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contact attempts during campaign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 3, 5, -11, 42, -35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290639"/>
                  </a:ext>
                </a:extLst>
              </a:tr>
              <a:tr h="295992"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Previous Contact Days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Numerical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Days since last contact (999 = never)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3, 10, 26, 999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006112"/>
                  </a:ext>
                </a:extLst>
              </a:tr>
              <a:tr h="295992"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Subscription Status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Whether the client subscribed to a term deposit.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rgbClr val="00339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'yes', 'no'</a:t>
                      </a:r>
                    </a:p>
                  </a:txBody>
                  <a:tcPr marL="46022" marR="46022" marT="23011" marB="23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633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5891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Collection Plan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Gather client and campaign data from IT and Marketing teams.</a:t>
            </a:r>
          </a:p>
          <a:p>
            <a:r>
              <a:rPr lang="en-US" dirty="0"/>
              <a:t>Handle missing values, outliers, and inconsistent categories.</a:t>
            </a:r>
          </a:p>
          <a:p>
            <a:r>
              <a:rPr lang="en-US" dirty="0"/>
              <a:t>Continuously check for consistency and accuracy in incoming data.</a:t>
            </a:r>
            <a:endParaRPr lang="en-S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7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966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preprocessing:</a:t>
            </a:r>
          </a:p>
          <a:p>
            <a:pPr lvl="1">
              <a:buFont typeface="+mj-lt"/>
              <a:buAutoNum type="arabicPeriod"/>
            </a:pPr>
            <a:r>
              <a:rPr lang="en-US" sz="1800" b="1" dirty="0"/>
              <a:t>Remove irrelevant columns</a:t>
            </a:r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Dropped Client ID (not necessary for analysis).</a:t>
            </a:r>
          </a:p>
          <a:p>
            <a:pPr lvl="1">
              <a:buFont typeface="+mj-lt"/>
              <a:buAutoNum type="arabicPeriod"/>
            </a:pPr>
            <a:r>
              <a:rPr lang="en-US" sz="1800" b="1" dirty="0"/>
              <a:t>Clean and process Age</a:t>
            </a:r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Removed ' years' text, converted to numeric, and removed outliers (e.g., Age &gt; 149).</a:t>
            </a:r>
          </a:p>
          <a:p>
            <a:pPr lvl="1">
              <a:buFont typeface="+mj-lt"/>
              <a:buAutoNum type="arabicPeriod"/>
            </a:pPr>
            <a:r>
              <a:rPr lang="en-US" sz="1800" b="1" dirty="0"/>
              <a:t>Reclassify Occupation and Education Level</a:t>
            </a:r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Mapped Occupation to categories like </a:t>
            </a:r>
            <a:r>
              <a:rPr lang="en-US" sz="1800" dirty="0" err="1">
                <a:solidFill>
                  <a:srgbClr val="003399"/>
                </a:solidFill>
              </a:rPr>
              <a:t>blue_collar</a:t>
            </a:r>
            <a:r>
              <a:rPr lang="en-US" sz="1800" dirty="0">
                <a:solidFill>
                  <a:srgbClr val="003399"/>
                </a:solidFill>
              </a:rPr>
              <a:t> and </a:t>
            </a:r>
            <a:r>
              <a:rPr lang="en-US" sz="1800" dirty="0" err="1">
                <a:solidFill>
                  <a:srgbClr val="003399"/>
                </a:solidFill>
              </a:rPr>
              <a:t>white_collar</a:t>
            </a:r>
            <a:r>
              <a:rPr lang="en-US" sz="1800" dirty="0">
                <a:solidFill>
                  <a:srgbClr val="003399"/>
                </a:solidFill>
              </a:rPr>
              <a:t>.</a:t>
            </a:r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Simplified Education Level to categories like secondary and university.</a:t>
            </a:r>
          </a:p>
          <a:p>
            <a:pPr lvl="1">
              <a:buFont typeface="+mj-lt"/>
              <a:buAutoNum type="arabicPeriod"/>
            </a:pPr>
            <a:r>
              <a:rPr lang="en-US" sz="1800" b="1" dirty="0"/>
              <a:t>Handle missing values</a:t>
            </a:r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Replaced missing values in Marital Status, Housing Loan, and Personal Loan with 'unknown'.</a:t>
            </a:r>
          </a:p>
          <a:p>
            <a:pPr lvl="1">
              <a:buFont typeface="+mj-lt"/>
              <a:buAutoNum type="arabicPeriod"/>
            </a:pPr>
            <a:r>
              <a:rPr lang="en-US" sz="1800" b="1" dirty="0"/>
              <a:t>Standardize Contact Method</a:t>
            </a:r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Replaced inconsistent values like 'Cell' to 'cellular' and 'Telephone' to 'telephone'.</a:t>
            </a:r>
          </a:p>
        </p:txBody>
      </p:sp>
    </p:spTree>
    <p:extLst>
      <p:ext uri="{BB962C8B-B14F-4D97-AF65-F5344CB8AC3E}">
        <p14:creationId xmlns:p14="http://schemas.microsoft.com/office/powerpoint/2010/main" val="4207686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22C77A-AE6A-3297-A36E-556A4527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D37522C1-0B9D-D54B-91D1-B3BFDECBB7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473C813-6AAE-5D48-112B-B4ADFD187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Preparation Plan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713EEA-C960-5CFD-6C3F-B0F93761B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1B91AD-A58F-2D2D-B52E-928F538DDF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9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A21388FE-27AE-EB5B-D45B-80628D6AD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1" y="2807494"/>
            <a:ext cx="5679168" cy="434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80E30C-2740-C1DB-E64B-F7FC92A4EF4A}"/>
              </a:ext>
            </a:extLst>
          </p:cNvPr>
          <p:cNvSpPr txBox="1"/>
          <p:nvPr/>
        </p:nvSpPr>
        <p:spPr>
          <a:xfrm>
            <a:off x="6424944" y="3263810"/>
            <a:ext cx="32002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Majority decline term deposits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Only ~10% subscribe ('yes') vs. 90% ('no').</a:t>
            </a:r>
            <a:b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1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(Highly imbalanced data, need stratified sampling or class weights.)</a:t>
            </a:r>
            <a:endParaRPr lang="en-SG" sz="1800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288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CF3221-1944-B351-09F0-F4A2B4C53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1BD4B70C-20CC-DB68-BFDF-37B87631D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EA2445D-B60E-4004-1267-781ABD63B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539003-16B6-C516-FE23-CB85DA552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37E5EA-3A90-79D3-A21E-591A1B0A0B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10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5AF8465-91BA-5250-3B84-FC7F234CD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72" y="2807494"/>
            <a:ext cx="5791200" cy="431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9C7B8C-3A1A-3C3E-C805-8EDE514DAB4D}"/>
              </a:ext>
            </a:extLst>
          </p:cNvPr>
          <p:cNvSpPr txBox="1"/>
          <p:nvPr/>
        </p:nvSpPr>
        <p:spPr>
          <a:xfrm>
            <a:off x="6523831" y="3264694"/>
            <a:ext cx="28980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Clients aged 30-49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are most likely to subscribe; </a:t>
            </a:r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seniors (70+)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rarely do.</a:t>
            </a:r>
            <a:b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1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(Peak earning years may drive investment interest.)</a:t>
            </a:r>
            <a:endParaRPr lang="en-SG" sz="1800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40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DFBECE-089B-8D94-68C1-134BEE961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095D443F-67E8-5176-3E83-4EAE3E0CAD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9B66EB-3D5A-069B-C5D8-C2B7487F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3464E4-FFA7-8943-7370-C1DA8054E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421D0-DF9E-62CB-8882-F209E2DDD6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11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BF731B9-2A4F-456D-101E-40E5555EF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2883694"/>
            <a:ext cx="5543488" cy="413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26DF3C-0B97-62B6-6BE2-AD2433F9C278}"/>
              </a:ext>
            </a:extLst>
          </p:cNvPr>
          <p:cNvSpPr txBox="1"/>
          <p:nvPr/>
        </p:nvSpPr>
        <p:spPr>
          <a:xfrm>
            <a:off x="6248399" y="3340894"/>
            <a:ext cx="33996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Blue/white-collar workers 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higher subscription rates than </a:t>
            </a:r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18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tudents</a:t>
            </a:r>
            <a: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18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entrepreneurs</a:t>
            </a:r>
            <a: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b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1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(Likely due to liquidity needs vs. long-term planning.)</a:t>
            </a:r>
            <a:endParaRPr lang="en-SG" sz="1800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535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F12EBF-BD49-2A4C-9EF1-5BF061F31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E068CC3C-8905-7CFF-A880-A663F49201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DF389F5-F400-8CB3-6647-42E2FE9F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198795-D9DD-67C2-E9E1-F285196A0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A3FDA7-40F8-5A13-BC87-94147DA6A8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12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F816E64-2709-88E1-F143-665002EE5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2848769"/>
            <a:ext cx="5525590" cy="412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920B47-82A5-951D-E73F-9D1ABCB50450}"/>
              </a:ext>
            </a:extLst>
          </p:cNvPr>
          <p:cNvSpPr txBox="1"/>
          <p:nvPr/>
        </p:nvSpPr>
        <p:spPr>
          <a:xfrm>
            <a:off x="6381750" y="3340894"/>
            <a:ext cx="28090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University-educated clients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subscribe most; </a:t>
            </a:r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no-education group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rarely does.</a:t>
            </a:r>
            <a:b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1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(Financial literacy likely plays a role.)</a:t>
            </a:r>
            <a:endParaRPr lang="en-SG" sz="1800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535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1D4E94-7C96-315E-EA3E-9D911D31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698F94BE-CB73-E80B-6B84-3277FE86E9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CD4DA8B-0CBC-1999-E5C5-89F5C1954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3A918B-0CAE-00E4-C48F-90343833C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359EF2-F2EF-6615-9C2D-32C71B3E2A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13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307C84A-2D6C-2533-17C5-2E870D66D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2907795"/>
            <a:ext cx="5501821" cy="410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E2FFCE-0CB7-3DCB-462A-9916728693DB}"/>
              </a:ext>
            </a:extLst>
          </p:cNvPr>
          <p:cNvSpPr txBox="1"/>
          <p:nvPr/>
        </p:nvSpPr>
        <p:spPr>
          <a:xfrm>
            <a:off x="6240878" y="3528877"/>
            <a:ext cx="34278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personal loans </a:t>
            </a:r>
            <a: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higher subscription rates than </a:t>
            </a:r>
            <a:r>
              <a:rPr lang="en-US" sz="18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personal loans.</a:t>
            </a:r>
          </a:p>
          <a:p>
            <a:r>
              <a:rPr lang="en-US" sz="1800" i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(Debt burden reduces disposable income for savings.)</a:t>
            </a:r>
          </a:p>
          <a:p>
            <a:endParaRPr lang="en-SG" sz="1800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38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21E025-7B03-0322-4919-6B238DCD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054613DE-EF91-3F17-B5BB-5CDEEA7A27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51A9AE4-9E06-AC5B-D84E-8588FA32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287480-0A47-A225-4CDC-4D96CE043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18F9D8-175E-90CA-D735-7AC4294D03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14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8176EF9-F3A5-E02B-33DB-26E8CD355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2903870"/>
            <a:ext cx="5396543" cy="403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7D7EFB-AB4C-4FA3-C4E7-49A565A4A767}"/>
              </a:ext>
            </a:extLst>
          </p:cNvPr>
          <p:cNvSpPr txBox="1"/>
          <p:nvPr/>
        </p:nvSpPr>
        <p:spPr>
          <a:xfrm>
            <a:off x="6153150" y="3645694"/>
            <a:ext cx="365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significant difference in subscription rates except for “</a:t>
            </a:r>
            <a:r>
              <a:rPr lang="en-US" sz="18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unknown</a:t>
            </a:r>
            <a: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”.</a:t>
            </a:r>
            <a:endParaRPr lang="en-SG" sz="1800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687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C70C12-4EAD-B49A-A453-E889DA17E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7CF50683-DF67-98A7-F98C-DFB40BB725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A6B2060-110B-F1AE-B920-F25B43B6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2AA477-79CC-0E13-1D29-172BC2425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BCB7B5-56B1-7832-88B0-A265E612E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15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95D3EB8-15AA-A776-7920-069106FFB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2948781"/>
            <a:ext cx="5336408" cy="398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50C973-1A92-FD15-8CC3-451978CA6369}"/>
              </a:ext>
            </a:extLst>
          </p:cNvPr>
          <p:cNvSpPr txBox="1"/>
          <p:nvPr/>
        </p:nvSpPr>
        <p:spPr>
          <a:xfrm>
            <a:off x="6071051" y="3569494"/>
            <a:ext cx="32249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Cellular contacts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yield 2× more subscriptions than </a:t>
            </a:r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telephone calls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1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(Mobile outreach may be more effective/accessible.)</a:t>
            </a:r>
            <a:endParaRPr lang="en-SG" sz="1800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883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D160F9-AC80-B599-F675-157F5DAD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B0D8FD48-2156-5F77-485D-E7282FF881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AC994E-F05B-1792-0A54-F2B25A97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AABD84-9F2D-9540-6AE5-AA0800E4E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2856F6-D64D-E0C7-11E5-F12327F403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16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862F6D8-9701-0146-0694-04645DABE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2947368"/>
            <a:ext cx="5347363" cy="398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D9B5E7-976F-0DB8-CB57-8EAA7207C9C4}"/>
              </a:ext>
            </a:extLst>
          </p:cNvPr>
          <p:cNvSpPr txBox="1"/>
          <p:nvPr/>
        </p:nvSpPr>
        <p:spPr>
          <a:xfrm>
            <a:off x="6154766" y="3607103"/>
            <a:ext cx="3156081" cy="1336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80% of conversions occur within 10 days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of contact.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</a:pPr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Leads beyond 20 days rarely convert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(&lt;2% success)</a:t>
            </a:r>
          </a:p>
        </p:txBody>
      </p:sp>
    </p:spTree>
    <p:extLst>
      <p:ext uri="{BB962C8B-B14F-4D97-AF65-F5344CB8AC3E}">
        <p14:creationId xmlns:p14="http://schemas.microsoft.com/office/powerpoint/2010/main" val="4129238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A1C7A2-F53A-F393-F5E2-1628030F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161C6DB2-17FE-3B19-67B3-238B0617B0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1EB3EC3-86E8-0514-1F54-C5246216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CBD92F-6ED3-0D5D-B92E-382E88AB1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22CDA8-0AC7-92FB-6662-6DA8E9BD2F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17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E47D840-C999-9B9D-4B34-EB99A6B42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2945393"/>
            <a:ext cx="5455444" cy="407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B09AE4-E7AB-5FD6-D90E-83A5EAC9103E}"/>
              </a:ext>
            </a:extLst>
          </p:cNvPr>
          <p:cNvSpPr txBox="1"/>
          <p:nvPr/>
        </p:nvSpPr>
        <p:spPr>
          <a:xfrm>
            <a:off x="6246352" y="3417094"/>
            <a:ext cx="29201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1-5 contact attempts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work best; </a:t>
            </a:r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&gt;10 attempts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drive 90% rejections.</a:t>
            </a:r>
            <a:b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1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(Over-contacting harms conversion—optimize call frequency.)</a:t>
            </a:r>
            <a:endParaRPr lang="en-SG" sz="1800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165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340B5A-BB2E-DA20-08F3-87E5EA8B3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1B8766CE-ED85-2FA1-47DE-64B7E61FA2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49C922B-6627-876A-0031-9DDAF7B6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F92103-3153-E443-78C2-46716541B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3AE2DE-4949-8283-6966-86A32706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18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58C14AE-954F-5BF1-629A-AED725DC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2883694"/>
            <a:ext cx="5635165" cy="420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4C8937-EBA1-4DF5-B14F-9A59F1551968}"/>
              </a:ext>
            </a:extLst>
          </p:cNvPr>
          <p:cNvSpPr txBox="1"/>
          <p:nvPr/>
        </p:nvSpPr>
        <p:spPr>
          <a:xfrm>
            <a:off x="6318236" y="3569494"/>
            <a:ext cx="29963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Non-defaulters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are 5× more likely to subscribe than defaulters.</a:t>
            </a:r>
            <a:b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1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(Creditworthiness strongly predicts financial engagement.)</a:t>
            </a:r>
            <a:endParaRPr lang="en-SG" sz="1800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913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BDD855-99DA-32EC-04E8-CC908F52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20728556-415D-7E8D-2F76-D9F86D16C2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60" t="55696" r="6816" b="22069"/>
          <a:stretch/>
        </p:blipFill>
        <p:spPr bwMode="auto">
          <a:xfrm>
            <a:off x="8800306" y="1055745"/>
            <a:ext cx="1016630" cy="101658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E033F1F-4AB9-844C-8518-31E84CDDE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Plan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55EB37-6B30-E2AC-32D3-1BE7A7155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3BFEED-888F-0581-0AFA-2A77BD86EE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19</a:t>
            </a:fld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D817B00-D84B-3080-6169-F3F55A8A1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2730170"/>
            <a:ext cx="4792728" cy="428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3F1E09-F5E4-2E92-0F60-E89258A7B461}"/>
              </a:ext>
            </a:extLst>
          </p:cNvPr>
          <p:cNvSpPr txBox="1"/>
          <p:nvPr/>
        </p:nvSpPr>
        <p:spPr>
          <a:xfrm>
            <a:off x="5914231" y="3569494"/>
            <a:ext cx="307252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</a:pPr>
            <a:r>
              <a:rPr lang="en-US" sz="1800" b="1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Multicollinearity</a:t>
            </a:r>
            <a:r>
              <a:rPr lang="en-US" sz="1800" b="0" i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No feature pairs exceed |0.5| correlation, reduc</a:t>
            </a:r>
            <a:r>
              <a:rPr lang="en-US" sz="1800" b="0" dirty="0">
                <a:solidFill>
                  <a:srgbClr val="00339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 redundancy risks, </a:t>
            </a:r>
            <a:r>
              <a:rPr lang="en-US" sz="1800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avoiding feature overlapping so much that it becomes not useful.</a:t>
            </a:r>
            <a:endParaRPr lang="en-US" sz="1800" b="0" dirty="0">
              <a:solidFill>
                <a:srgbClr val="00339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055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42" t="71792" r="25658" b="5708"/>
          <a:stretch/>
        </p:blipFill>
        <p:spPr bwMode="auto">
          <a:xfrm>
            <a:off x="8794271" y="1043629"/>
            <a:ext cx="1028700" cy="10287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 Plan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mining task:</a:t>
            </a:r>
          </a:p>
          <a:p>
            <a:pPr lvl="1"/>
            <a:r>
              <a:rPr lang="en-US" dirty="0"/>
              <a:t>Prediction (Classification): Predict if a client will subscribe to a term deposit.</a:t>
            </a:r>
          </a:p>
          <a:p>
            <a:pPr lvl="1"/>
            <a:r>
              <a:rPr lang="en-US" dirty="0"/>
              <a:t>Independent Variables: </a:t>
            </a:r>
            <a:r>
              <a:rPr lang="en-US" i="1" dirty="0"/>
              <a:t>Age</a:t>
            </a:r>
            <a:r>
              <a:rPr lang="en-US" dirty="0"/>
              <a:t>, </a:t>
            </a:r>
            <a:r>
              <a:rPr lang="en-US" i="1" dirty="0"/>
              <a:t>Occupation</a:t>
            </a:r>
            <a:r>
              <a:rPr lang="en-US" dirty="0"/>
              <a:t>, </a:t>
            </a:r>
            <a:r>
              <a:rPr lang="en-US" i="1" dirty="0"/>
              <a:t>Marital Status</a:t>
            </a:r>
            <a:r>
              <a:rPr lang="en-US" dirty="0"/>
              <a:t>, </a:t>
            </a:r>
            <a:r>
              <a:rPr lang="en-US" i="1" dirty="0"/>
              <a:t>Education Level</a:t>
            </a:r>
            <a:r>
              <a:rPr lang="en-US" dirty="0"/>
              <a:t>, </a:t>
            </a:r>
            <a:r>
              <a:rPr lang="en-US" i="1" dirty="0"/>
              <a:t>Credit Default</a:t>
            </a:r>
            <a:r>
              <a:rPr lang="en-US" dirty="0"/>
              <a:t>, </a:t>
            </a:r>
            <a:r>
              <a:rPr lang="en-US" i="1" dirty="0"/>
              <a:t>Housing Loan</a:t>
            </a:r>
            <a:r>
              <a:rPr lang="en-US" dirty="0"/>
              <a:t>, </a:t>
            </a:r>
            <a:r>
              <a:rPr lang="en-US" i="1" dirty="0"/>
              <a:t>Personal Loan</a:t>
            </a:r>
            <a:r>
              <a:rPr lang="en-US" dirty="0"/>
              <a:t>, </a:t>
            </a:r>
            <a:r>
              <a:rPr lang="en-US" i="1" dirty="0"/>
              <a:t>Contact Method</a:t>
            </a:r>
            <a:r>
              <a:rPr lang="en-US" dirty="0"/>
              <a:t>, </a:t>
            </a:r>
            <a:r>
              <a:rPr lang="en-US" i="1" dirty="0"/>
              <a:t>Campaign Calls</a:t>
            </a:r>
            <a:r>
              <a:rPr lang="en-US" dirty="0"/>
              <a:t>, </a:t>
            </a:r>
            <a:r>
              <a:rPr lang="en-US" i="1" dirty="0"/>
              <a:t>Previous Contact Days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Dependent Variable: </a:t>
            </a:r>
            <a:r>
              <a:rPr lang="en-US" i="1" dirty="0"/>
              <a:t>Subscription Status</a:t>
            </a:r>
            <a:r>
              <a:rPr lang="en-US" dirty="0"/>
              <a:t>.</a:t>
            </a:r>
          </a:p>
          <a:p>
            <a:r>
              <a:rPr lang="en-US" dirty="0"/>
              <a:t>Type of learning:</a:t>
            </a:r>
          </a:p>
          <a:p>
            <a:pPr lvl="1"/>
            <a:r>
              <a:rPr lang="en-US" dirty="0"/>
              <a:t>Supervised Learning: Using labeled data to predict the target variable (Subscription Status).</a:t>
            </a:r>
            <a:endParaRPr lang="en-S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20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862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Plan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Algorithms:</a:t>
            </a:r>
          </a:p>
          <a:p>
            <a:pPr lvl="1"/>
            <a:r>
              <a:rPr lang="en-US" dirty="0"/>
              <a:t>Logistic Regression</a:t>
            </a:r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Baseline model for binary classification; simple and interpretable.</a:t>
            </a:r>
          </a:p>
          <a:p>
            <a:pPr lvl="1"/>
            <a:r>
              <a:rPr lang="en-US" dirty="0"/>
              <a:t>Random Forest</a:t>
            </a:r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Ensemble of decision trees; handles non-linear relationships well.</a:t>
            </a:r>
          </a:p>
          <a:p>
            <a:pPr lvl="1"/>
            <a:r>
              <a:rPr lang="en-US" dirty="0"/>
              <a:t>Decision Tree</a:t>
            </a:r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Rule-based model; easy to visualize and interpret.</a:t>
            </a:r>
          </a:p>
          <a:p>
            <a:pPr lvl="1"/>
            <a:r>
              <a:rPr lang="en-US" dirty="0"/>
              <a:t>Naive Bayes</a:t>
            </a:r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Probabilistic model; fast and works well with categorical data.</a:t>
            </a:r>
          </a:p>
          <a:p>
            <a:pPr lvl="1"/>
            <a:r>
              <a:rPr lang="en-US" dirty="0" err="1"/>
              <a:t>XGBoost</a:t>
            </a:r>
            <a:endParaRPr lang="en-US" dirty="0"/>
          </a:p>
          <a:p>
            <a:pPr lvl="2"/>
            <a:r>
              <a:rPr lang="en-US" sz="1800" dirty="0">
                <a:solidFill>
                  <a:srgbClr val="003399"/>
                </a:solidFill>
              </a:rPr>
              <a:t>High-performance boosting algorithm; effective for structured data.</a:t>
            </a:r>
            <a:endParaRPr lang="en-SG" sz="1800" dirty="0">
              <a:solidFill>
                <a:srgbClr val="00339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C53B01-2714-4BC1-9FD1-2E0C34F23AFB}" type="slidenum">
              <a:rPr lang="en-GB" smtClean="0"/>
              <a:pPr>
                <a:defRPr/>
              </a:pPr>
              <a:t>21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516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42" t="71792" r="25658" b="5708"/>
          <a:stretch/>
        </p:blipFill>
        <p:spPr bwMode="auto">
          <a:xfrm>
            <a:off x="8794271" y="1043629"/>
            <a:ext cx="1028700" cy="10287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Assessing Usefulness of Models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Assessing model assumptions:</a:t>
            </a:r>
          </a:p>
          <a:p>
            <a:pPr lvl="1"/>
            <a:r>
              <a:rPr lang="en-US" b="1" dirty="0"/>
              <a:t>Logistic Regression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Assumes low multicollinearity.</a:t>
            </a:r>
          </a:p>
          <a:p>
            <a:pPr lvl="1"/>
            <a:r>
              <a:rPr lang="en-US" b="1" dirty="0"/>
              <a:t>Naive Bayes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Assumes feature independence.</a:t>
            </a:r>
          </a:p>
          <a:p>
            <a:pPr lvl="1"/>
            <a:r>
              <a:rPr lang="en-US" b="1" dirty="0"/>
              <a:t>Tree-Based Models (Decision Tree/Random Forest/</a:t>
            </a:r>
            <a:r>
              <a:rPr lang="en-US" b="1" dirty="0" err="1"/>
              <a:t>XGBoost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Prone to overfitting on small/noisy datasets.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22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0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B36F89-F6F8-275D-6894-E9E4A3F6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9A0B09ED-226B-9AAD-9EFA-77B604E9FD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42" t="71792" r="25658" b="5708"/>
          <a:stretch/>
        </p:blipFill>
        <p:spPr bwMode="auto">
          <a:xfrm>
            <a:off x="8794271" y="1043629"/>
            <a:ext cx="1028700" cy="10287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9323884-760B-E1F7-B24A-522DEB6D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Usefulness of Models (cont.)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27CB4B-C3CB-F95A-53FE-F655851D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Assessing model performance:</a:t>
            </a:r>
          </a:p>
          <a:p>
            <a:pPr lvl="1"/>
            <a:r>
              <a:rPr lang="en-US" sz="2000" b="1" dirty="0"/>
              <a:t>Logistic Regression </a:t>
            </a:r>
            <a:r>
              <a:rPr lang="en-US" sz="2000" dirty="0"/>
              <a:t>is the best model with the highest accuracy (89.55%) and a ROC AUC of 0.72, but has low recall for the Yes class. </a:t>
            </a:r>
          </a:p>
          <a:p>
            <a:pPr lvl="1"/>
            <a:r>
              <a:rPr lang="en-US" sz="2000" b="1" dirty="0" err="1"/>
              <a:t>XGBoost</a:t>
            </a:r>
            <a:r>
              <a:rPr lang="en-US" sz="2000" dirty="0"/>
              <a:t> (accuracy: 89.31%, ROC AUC: 0.73) offers a slight improvement in AUC but still struggles with Yes class recall. </a:t>
            </a:r>
          </a:p>
          <a:p>
            <a:pPr lvl="1"/>
            <a:r>
              <a:rPr lang="en-US" sz="2000" b="1" dirty="0"/>
              <a:t>Random Forest </a:t>
            </a:r>
            <a:r>
              <a:rPr lang="en-US" sz="2000" dirty="0"/>
              <a:t>and </a:t>
            </a:r>
            <a:r>
              <a:rPr lang="en-US" sz="2000" b="1" dirty="0"/>
              <a:t>Decision Tree </a:t>
            </a:r>
            <a:r>
              <a:rPr lang="en-US" sz="2000" dirty="0"/>
              <a:t>perform worse, with ROC AUC scores of 0.67 and 0.60, respectively, and also show bias toward the majority class. </a:t>
            </a:r>
          </a:p>
          <a:p>
            <a:pPr lvl="1"/>
            <a:r>
              <a:rPr lang="en-US" sz="2000" b="1" dirty="0"/>
              <a:t>Naive Bayes </a:t>
            </a:r>
            <a:r>
              <a:rPr lang="en-US" sz="2000" dirty="0"/>
              <a:t>(accuracy: 89.43%, ROC AUC: 0.73) shows similar performance to </a:t>
            </a:r>
            <a:r>
              <a:rPr lang="en-US" sz="2000" b="1" dirty="0" err="1"/>
              <a:t>XGBoost</a:t>
            </a:r>
            <a:r>
              <a:rPr lang="en-US" sz="2000" dirty="0"/>
              <a:t>, with a slightly better accuracy and a comparable ROC AUC, but still faces challenges with the minority class recall. </a:t>
            </a:r>
          </a:p>
          <a:p>
            <a:pPr lvl="1"/>
            <a:r>
              <a:rPr lang="en-US" sz="2000" dirty="0"/>
              <a:t>While </a:t>
            </a:r>
            <a:r>
              <a:rPr lang="en-US" sz="2000" b="1" dirty="0" err="1"/>
              <a:t>XGBoost</a:t>
            </a:r>
            <a:r>
              <a:rPr lang="en-US" sz="2000" dirty="0"/>
              <a:t> and </a:t>
            </a:r>
            <a:r>
              <a:rPr lang="en-US" sz="2000" b="1" dirty="0"/>
              <a:t>Naive Bayes </a:t>
            </a:r>
            <a:r>
              <a:rPr lang="en-US" sz="2000" dirty="0"/>
              <a:t>offer good performance, class balancing and data augmentation are crucial for improving recall for the Yes class.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79FE45-2C96-B1FE-1F1E-B8B297687F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EEE697-47B0-4F0E-A40D-68204616B149}" type="slidenum">
              <a:rPr lang="en-GB" smtClean="0"/>
              <a:pPr>
                <a:defRPr/>
              </a:pPr>
              <a:t>23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953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 descr="https://www.proglobalbusinesssolutions.com/wp-content/uploads/2017/12/data-mining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64" t="55179" r="44401" b="22226"/>
          <a:stretch/>
        </p:blipFill>
        <p:spPr bwMode="auto">
          <a:xfrm>
            <a:off x="8793366" y="1043629"/>
            <a:ext cx="1017384" cy="103304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Plan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Assessing business success criteria:</a:t>
            </a:r>
          </a:p>
          <a:p>
            <a:pPr lvl="1"/>
            <a:r>
              <a:rPr lang="en-US" dirty="0"/>
              <a:t>1. Increase Term Deposit Sign-ups</a:t>
            </a:r>
          </a:p>
          <a:p>
            <a:pPr lvl="2"/>
            <a:r>
              <a:rPr lang="en-US" dirty="0"/>
              <a:t>Filters out unlikely clients (90% "No" accuracy).</a:t>
            </a:r>
          </a:p>
          <a:p>
            <a:pPr lvl="2"/>
            <a:r>
              <a:rPr lang="en-US" dirty="0"/>
              <a:t>Misses 75-80% of potential subscribers (low "Yes" recall).</a:t>
            </a:r>
          </a:p>
          <a:p>
            <a:pPr lvl="1"/>
            <a:r>
              <a:rPr lang="en-US" dirty="0"/>
              <a:t>2. Reduce Cost Per Acquisition</a:t>
            </a:r>
          </a:p>
          <a:p>
            <a:pPr lvl="2"/>
            <a:r>
              <a:rPr lang="en-US" dirty="0"/>
              <a:t>Targets high-likelihood groups (e.g., educated 30-49yo).</a:t>
            </a:r>
          </a:p>
          <a:p>
            <a:pPr lvl="2"/>
            <a:r>
              <a:rPr lang="en-US" dirty="0"/>
              <a:t>Poor recall forces broader outreach → higher costs.</a:t>
            </a:r>
          </a:p>
          <a:p>
            <a:pPr lvl="1"/>
            <a:r>
              <a:rPr lang="en-US" dirty="0"/>
              <a:t>3. Identify Key Client Attributes</a:t>
            </a:r>
          </a:p>
          <a:p>
            <a:pPr lvl="2"/>
            <a:r>
              <a:rPr lang="en-US" dirty="0"/>
              <a:t>Clear drivers found (education, age, no loans).</a:t>
            </a:r>
          </a:p>
          <a:p>
            <a:pPr lvl="2"/>
            <a:r>
              <a:rPr lang="en-US" dirty="0"/>
              <a:t>Needs real-world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C53B01-2714-4BC1-9FD1-2E0C34F23AFB}" type="slidenum">
              <a:rPr lang="en-GB" smtClean="0"/>
              <a:pPr>
                <a:defRPr/>
              </a:pPr>
              <a:t>24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699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DF8F49-C364-0DFB-26A0-99DA34A18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 descr="https://www.proglobalbusinesssolutions.com/wp-content/uploads/2017/12/data-mining.jpg">
            <a:extLst>
              <a:ext uri="{FF2B5EF4-FFF2-40B4-BE49-F238E27FC236}">
                <a16:creationId xmlns:a16="http://schemas.microsoft.com/office/drawing/2014/main" id="{66C065E1-5ADF-AC2C-54D0-5BE5E8210B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64" t="55179" r="44401" b="22226"/>
          <a:stretch/>
        </p:blipFill>
        <p:spPr bwMode="auto">
          <a:xfrm>
            <a:off x="8793366" y="1043629"/>
            <a:ext cx="1017384" cy="103304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558A85-0569-75A6-0159-2AEEEC89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Plan (cont.)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3C41F-2F45-8536-5B83-E6C6C236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Generality of the model:</a:t>
            </a:r>
          </a:p>
          <a:p>
            <a:pPr lvl="1"/>
            <a:r>
              <a:rPr lang="en-US" sz="2200" dirty="0"/>
              <a:t>Works Best On:</a:t>
            </a:r>
          </a:p>
          <a:p>
            <a:pPr lvl="2"/>
            <a:r>
              <a:rPr lang="en-US" sz="2000" dirty="0"/>
              <a:t>Clients with clear patterns (university-educated, 30-49yo, no loans).</a:t>
            </a:r>
          </a:p>
          <a:p>
            <a:pPr lvl="2"/>
            <a:r>
              <a:rPr lang="en-US" sz="2000" dirty="0"/>
              <a:t>Cellular contacts within 5 days of outreach.</a:t>
            </a:r>
          </a:p>
          <a:p>
            <a:pPr lvl="1"/>
            <a:r>
              <a:rPr lang="en-US" sz="2200" dirty="0"/>
              <a:t>Struggles With:</a:t>
            </a:r>
          </a:p>
          <a:p>
            <a:pPr lvl="2"/>
            <a:r>
              <a:rPr lang="en-US" sz="2000" dirty="0"/>
              <a:t>Rare edge cases (e.g., subscribers with personal loans or retirees).</a:t>
            </a:r>
          </a:p>
          <a:p>
            <a:pPr lvl="2"/>
            <a:r>
              <a:rPr lang="en-US" sz="2000" dirty="0"/>
              <a:t>Non-linear relationships (e.g., interactions between age and occupation).</a:t>
            </a:r>
          </a:p>
          <a:p>
            <a:pPr lvl="1"/>
            <a:r>
              <a:rPr lang="en-US" sz="2200" dirty="0"/>
              <a:t>Limited Scope:</a:t>
            </a:r>
          </a:p>
          <a:p>
            <a:pPr lvl="2"/>
            <a:r>
              <a:rPr lang="en-US" sz="2000" dirty="0"/>
              <a:t>Predictions assume historical patterns hold (may fail with new customer segments).</a:t>
            </a:r>
          </a:p>
          <a:p>
            <a:pPr lvl="2"/>
            <a:r>
              <a:rPr lang="en-US" sz="2000" dirty="0"/>
              <a:t>Requires frequent retraining if market trends shift (e.g., new loan products).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CDF77-89DE-0FF4-3783-C1B8CC101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C53B01-2714-4BC1-9FD1-2E0C34F23AFB}" type="slidenum">
              <a:rPr lang="en-GB" smtClean="0"/>
              <a:pPr>
                <a:defRPr/>
              </a:pPr>
              <a:t>25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320684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D623918DCF64AABAD1F5877DE14E7" ma:contentTypeVersion="12" ma:contentTypeDescription="Create a new document." ma:contentTypeScope="" ma:versionID="9bf73e62e50322286f2f6bb1736f5367">
  <xsd:schema xmlns:xsd="http://www.w3.org/2001/XMLSchema" xmlns:xs="http://www.w3.org/2001/XMLSchema" xmlns:p="http://schemas.microsoft.com/office/2006/metadata/properties" xmlns:ns3="095419c6-b3a6-4efe-9739-ca5c5b5588f8" xmlns:ns4="fc8692a5-45a0-41c1-a65f-bd029a3b7383" targetNamespace="http://schemas.microsoft.com/office/2006/metadata/properties" ma:root="true" ma:fieldsID="108f82ef5e2001b5d6f731c70a38f79a" ns3:_="" ns4:_="">
    <xsd:import namespace="095419c6-b3a6-4efe-9739-ca5c5b5588f8"/>
    <xsd:import namespace="fc8692a5-45a0-41c1-a65f-bd029a3b738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5419c6-b3a6-4efe-9739-ca5c5b5588f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692a5-45a0-41c1-a65f-bd029a3b73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344ECD-A8C5-4A55-A4EE-EE7D0F8C31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5419c6-b3a6-4efe-9739-ca5c5b5588f8"/>
    <ds:schemaRef ds:uri="fc8692a5-45a0-41c1-a65f-bd029a3b73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C3D62A-CC14-4476-A1AF-3301E786E0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F16A33-E6F5-444B-9558-28CA5CDAFBC0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terms/"/>
    <ds:schemaRef ds:uri="http://schemas.microsoft.com/office/2006/documentManagement/types"/>
    <ds:schemaRef ds:uri="fc8692a5-45a0-41c1-a65f-bd029a3b7383"/>
    <ds:schemaRef ds:uri="http://purl.org/dc/elements/1.1/"/>
    <ds:schemaRef ds:uri="095419c6-b3a6-4efe-9739-ca5c5b5588f8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1009</TotalTime>
  <Words>1524</Words>
  <Application>Microsoft Office PowerPoint</Application>
  <PresentationFormat>Custom</PresentationFormat>
  <Paragraphs>214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</vt:lpstr>
      <vt:lpstr>Times New Roman</vt:lpstr>
      <vt:lpstr>Blank</vt:lpstr>
      <vt:lpstr>Predicting Client Subscriptions to Term Deposits</vt:lpstr>
      <vt:lpstr>Problem Statement</vt:lpstr>
      <vt:lpstr>Business Objectives</vt:lpstr>
      <vt:lpstr>Business Success Criteria</vt:lpstr>
      <vt:lpstr>Solution Statement</vt:lpstr>
      <vt:lpstr>Data Sources</vt:lpstr>
      <vt:lpstr>Data Variables</vt:lpstr>
      <vt:lpstr>Data Collection Plan</vt:lpstr>
      <vt:lpstr>Data Preparation Plan</vt:lpstr>
      <vt:lpstr>Data Preparation Plan</vt:lpstr>
      <vt:lpstr>Data Preparation Plan (cont.)</vt:lpstr>
      <vt:lpstr>Data Preparation Plan (cont.)</vt:lpstr>
      <vt:lpstr>Data Preparation Plan (cont.)</vt:lpstr>
      <vt:lpstr>Data Preparation Plan (cont.)</vt:lpstr>
      <vt:lpstr>Data Preparation Plan (cont.)</vt:lpstr>
      <vt:lpstr>Data Preparation Plan (cont.)</vt:lpstr>
      <vt:lpstr>Data Preparation Plan (cont.)</vt:lpstr>
      <vt:lpstr>Data Preparation Plan (cont.)</vt:lpstr>
      <vt:lpstr>Data Preparation Plan (cont.)</vt:lpstr>
      <vt:lpstr>Data Preparation Plan (cont.)</vt:lpstr>
      <vt:lpstr>Modeling Plan</vt:lpstr>
      <vt:lpstr>Modeling Plan (cont.)</vt:lpstr>
      <vt:lpstr>Assessing Usefulness of Models</vt:lpstr>
      <vt:lpstr>Assessing Usefulness of Models (cont.)</vt:lpstr>
      <vt:lpstr>Evaluation Plan</vt:lpstr>
      <vt:lpstr>Evaluation Plan (cont.)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PowerPC</dc:creator>
  <cp:lastModifiedBy>Muhammad Faizal Bin Ehsan</cp:lastModifiedBy>
  <cp:revision>96</cp:revision>
  <cp:lastPrinted>2002-11-20T02:08:40Z</cp:lastPrinted>
  <dcterms:created xsi:type="dcterms:W3CDTF">2001-10-04T11:39:11Z</dcterms:created>
  <dcterms:modified xsi:type="dcterms:W3CDTF">2025-06-28T01:20:10Z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0x010100AFED623918DCF64AABAD1F5877DE14E7</vt:lpwstr>
  </property>
</Properties>
</file>